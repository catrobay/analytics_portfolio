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7%2008_47_5166c063b7b760d5.88970895transaction_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7%2008_47_5166c063b7b760d5.88970895transaction_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7%2008_47_5166c063b7b760d5.88970895transaction_li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7%2008_47_5166c063b7b760d5.88970895transaction_li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7%2008_47_5166c063b7b760d5.88970895transaction_li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3%2011_02_5166e41bdbe99fc3.58185703&#1058;&#1077;&#1093;&#1079;&#1072;&#1076;&#1072;&#1085;&#1080;&#1077;2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cer\Downloads\13%2011_02_5166e41bdbe99fc3.58185703&#1058;&#1077;&#1093;&#1079;&#1072;&#1076;&#1072;&#1085;&#1080;&#1077;2%20(1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3%2011_02_5166e41bdbe99fc3.58185703&#1058;&#1077;&#1093;&#1079;&#1072;&#1076;&#1072;&#1085;&#1080;&#1077;2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9%2020_07_1866ec8476822494.376477171914_35_4666ec36c22d5256.450066521911_43_5666ec0e7cb1b5f2.365636371311_02_5166e41bdbe99fc3.58185703&#1058;&#1077;&#1093;&#1079;&#1072;&#1076;&#1072;&#1085;&#1080;&#1077;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9%2020_07_1866ec8476822494.376477171914_35_4666ec36c22d5256.450066521911_43_5666ec0e7cb1b5f2.365636371311_02_5166e41bdbe99fc3.58185703&#1058;&#1077;&#1093;&#1079;&#1072;&#1076;&#1072;&#1085;&#1080;&#1077;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9%2020_07_1866ec8476822494.376477171914_35_4666ec36c22d5256.450066521911_43_5666ec0e7cb1b5f2.365636371311_02_5166e41bdbe99fc3.58185703&#1058;&#1077;&#1093;&#1079;&#1072;&#1076;&#1072;&#1085;&#1080;&#1077;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Downloads\19%2020_07_1866ec8476822494.376477171914_35_4666ec36c22d5256.450066521911_43_5666ec0e7cb1b5f2.365636371311_02_5166e41bdbe99fc3.58185703&#1058;&#1077;&#1093;&#1079;&#1072;&#1076;&#1072;&#1085;&#1080;&#1077;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08_47_5166c063b7b760d5.88970895transaction_list.xlsx]Задание 1!Сводная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>
                <a:solidFill>
                  <a:schemeClr val="tx1"/>
                </a:solidFill>
              </a:rPr>
              <a:t>Динамика количества транзакций в</a:t>
            </a:r>
            <a:r>
              <a:rPr lang="ru-RU" sz="1200" baseline="0" dirty="0">
                <a:solidFill>
                  <a:schemeClr val="tx1"/>
                </a:solidFill>
              </a:rPr>
              <a:t> течение 4 дней</a:t>
            </a:r>
            <a:endParaRPr lang="ru-RU" sz="12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9.7465335360971628E-2"/>
          <c:y val="1.37558854824330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'Задание 1'!$B$3:$B$4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08-4E65-A6B3-FEF2C9A103B9}"/>
            </c:ext>
          </c:extLst>
        </c:ser>
        <c:ser>
          <c:idx val="1"/>
          <c:order val="1"/>
          <c:tx>
            <c:strRef>
              <c:f>'Задание 1'!$C$3:$C$4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08-4E65-A6B3-FEF2C9A103B9}"/>
            </c:ext>
          </c:extLst>
        </c:ser>
        <c:ser>
          <c:idx val="2"/>
          <c:order val="2"/>
          <c:tx>
            <c:strRef>
              <c:f>'Задание 1'!$D$3:$D$4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08-4E65-A6B3-FEF2C9A103B9}"/>
            </c:ext>
          </c:extLst>
        </c:ser>
        <c:ser>
          <c:idx val="3"/>
          <c:order val="3"/>
          <c:tx>
            <c:strRef>
              <c:f>'Задание 1'!$E$3:$E$4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08-4E65-A6B3-FEF2C9A103B9}"/>
            </c:ext>
          </c:extLst>
        </c:ser>
        <c:ser>
          <c:idx val="4"/>
          <c:order val="4"/>
          <c:tx>
            <c:strRef>
              <c:f>'Задание 1'!$F$3:$F$4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08-4E65-A6B3-FEF2C9A103B9}"/>
            </c:ext>
          </c:extLst>
        </c:ser>
        <c:ser>
          <c:idx val="5"/>
          <c:order val="5"/>
          <c:tx>
            <c:strRef>
              <c:f>'Задание 1'!$G$3:$G$4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308-4E65-A6B3-FEF2C9A103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8240784"/>
        <c:axId val="1228241264"/>
      </c:barChart>
      <c:catAx>
        <c:axId val="1228240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8241264"/>
        <c:crosses val="autoZero"/>
        <c:auto val="1"/>
        <c:lblAlgn val="ctr"/>
        <c:lblOffset val="100"/>
        <c:noMultiLvlLbl val="0"/>
      </c:catAx>
      <c:valAx>
        <c:axId val="122824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82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08_47_5166c063b7b760d5.88970895transaction_list.xlsx]Задание 2!Сводная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нагрузки серверов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F4-48E3-AAC5-4B5D3871BD50}"/>
            </c:ext>
          </c:extLst>
        </c:ser>
        <c:ser>
          <c:idx val="1"/>
          <c:order val="1"/>
          <c:tx>
            <c:strRef>
              <c:f>'Задание 2'!$C$3:$C$4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F4-48E3-AAC5-4B5D3871BD50}"/>
            </c:ext>
          </c:extLst>
        </c:ser>
        <c:ser>
          <c:idx val="2"/>
          <c:order val="2"/>
          <c:tx>
            <c:strRef>
              <c:f>'Задание 2'!$D$3:$D$4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F4-48E3-AAC5-4B5D3871B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5285136"/>
        <c:axId val="1445290896"/>
      </c:lineChart>
      <c:catAx>
        <c:axId val="1445285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45290896"/>
        <c:crosses val="autoZero"/>
        <c:auto val="1"/>
        <c:lblAlgn val="ctr"/>
        <c:lblOffset val="100"/>
        <c:noMultiLvlLbl val="0"/>
      </c:catAx>
      <c:valAx>
        <c:axId val="144529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транзакий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45285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08_47_5166c063b7b760d5.88970895transaction_list.xlsx]Задание 2!Сводная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Новая динамика</a:t>
            </a:r>
            <a:r>
              <a:rPr lang="ru-RU" baseline="0">
                <a:solidFill>
                  <a:schemeClr val="tx1"/>
                </a:solidFill>
              </a:rPr>
              <a:t> нагрузки серверов</a:t>
            </a:r>
            <a:endParaRPr lang="ru-RU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2'!$B$26:$B$27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2'!$A$28:$A$32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2'!$B$28:$B$32</c:f>
              <c:numCache>
                <c:formatCode>General</c:formatCode>
                <c:ptCount val="4"/>
                <c:pt idx="0">
                  <c:v>1974</c:v>
                </c:pt>
                <c:pt idx="1">
                  <c:v>1981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CB-48E8-AF05-EC4F6836B5A3}"/>
            </c:ext>
          </c:extLst>
        </c:ser>
        <c:ser>
          <c:idx val="1"/>
          <c:order val="1"/>
          <c:tx>
            <c:strRef>
              <c:f>'Задание 2'!$C$26:$C$27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2'!$A$28:$A$32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2'!$C$28:$C$32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CB-48E8-AF05-EC4F6836B5A3}"/>
            </c:ext>
          </c:extLst>
        </c:ser>
        <c:ser>
          <c:idx val="2"/>
          <c:order val="2"/>
          <c:tx>
            <c:strRef>
              <c:f>'Задание 2'!$D$26:$D$27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2'!$A$28:$A$32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2'!$D$28:$D$32</c:f>
              <c:numCache>
                <c:formatCode>General</c:formatCode>
                <c:ptCount val="4"/>
                <c:pt idx="0">
                  <c:v>1408</c:v>
                </c:pt>
                <c:pt idx="1">
                  <c:v>1481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CB-48E8-AF05-EC4F6836B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469807"/>
        <c:axId val="862473167"/>
      </c:lineChart>
      <c:catAx>
        <c:axId val="862469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73167"/>
        <c:crosses val="autoZero"/>
        <c:auto val="1"/>
        <c:lblAlgn val="ctr"/>
        <c:lblOffset val="100"/>
        <c:noMultiLvlLbl val="0"/>
      </c:catAx>
      <c:valAx>
        <c:axId val="862473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69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08_47_5166c063b7b760d5.88970895transaction_list.xlsx]Задание 2 Домашки!Сводная таблица5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средней длительности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0230361614001721"/>
          <c:y val="0.133643633001022"/>
          <c:w val="0.7057169203030994"/>
          <c:h val="0.67131677460776695"/>
        </c:manualLayout>
      </c:layout>
      <c:lineChart>
        <c:grouping val="standard"/>
        <c:varyColors val="0"/>
        <c:ser>
          <c:idx val="0"/>
          <c:order val="0"/>
          <c:tx>
            <c:strRef>
              <c:f>'Задание 2 Домашки'!$B$1:$B$2</c:f>
              <c:strCache>
                <c:ptCount val="1"/>
                <c:pt idx="0">
                  <c:v>778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Домашки'!$A$3:$A$28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Домашки'!$B$3:$B$28</c:f>
              <c:numCache>
                <c:formatCode>0.00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C8-485A-ABE0-DC79AC770D02}"/>
            </c:ext>
          </c:extLst>
        </c:ser>
        <c:ser>
          <c:idx val="1"/>
          <c:order val="1"/>
          <c:tx>
            <c:strRef>
              <c:f>'Задание 2 Домашки'!$C$1:$C$2</c:f>
              <c:strCache>
                <c:ptCount val="1"/>
                <c:pt idx="0">
                  <c:v>1002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Домашки'!$A$3:$A$28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Домашки'!$C$3:$C$28</c:f>
              <c:numCache>
                <c:formatCode>0.00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8-485A-ABE0-DC79AC770D02}"/>
            </c:ext>
          </c:extLst>
        </c:ser>
        <c:ser>
          <c:idx val="2"/>
          <c:order val="2"/>
          <c:tx>
            <c:strRef>
              <c:f>'Задание 2 Домашки'!$D$1:$D$2</c:f>
              <c:strCache>
                <c:ptCount val="1"/>
                <c:pt idx="0">
                  <c:v>1865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Домашки'!$A$3:$A$28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Домашки'!$D$3:$D$28</c:f>
              <c:numCache>
                <c:formatCode>0.00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C8-485A-ABE0-DC79AC770D02}"/>
            </c:ext>
          </c:extLst>
        </c:ser>
        <c:ser>
          <c:idx val="3"/>
          <c:order val="3"/>
          <c:tx>
            <c:strRef>
              <c:f>'Задание 2 Домашки'!$E$1:$E$2</c:f>
              <c:strCache>
                <c:ptCount val="1"/>
                <c:pt idx="0">
                  <c:v>2149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Домашки'!$A$3:$A$28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Домашки'!$E$3:$E$28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C8-485A-ABE0-DC79AC770D02}"/>
            </c:ext>
          </c:extLst>
        </c:ser>
        <c:ser>
          <c:idx val="4"/>
          <c:order val="4"/>
          <c:tx>
            <c:strRef>
              <c:f>'Задание 2 Домашки'!$F$1:$F$2</c:f>
              <c:strCache>
                <c:ptCount val="1"/>
                <c:pt idx="0">
                  <c:v>2347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Домашки'!$A$3:$A$28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Домашки'!$F$3:$F$28</c:f>
              <c:numCache>
                <c:formatCode>0.00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CC8-485A-ABE0-DC79AC770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454927"/>
        <c:axId val="862467407"/>
      </c:lineChart>
      <c:catAx>
        <c:axId val="8624549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67407"/>
        <c:crosses val="autoZero"/>
        <c:auto val="1"/>
        <c:lblAlgn val="ctr"/>
        <c:lblOffset val="100"/>
        <c:noMultiLvlLbl val="0"/>
      </c:catAx>
      <c:valAx>
        <c:axId val="862467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Средняя длительность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5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08_47_5166c063b7b760d5.88970895transaction_list.xlsx]Задание 2 Домашки!Сводная таблица6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Динамика средней длительности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1637270341207349"/>
          <c:y val="0.14249781277340332"/>
          <c:w val="0.69612729658792649"/>
          <c:h val="0.58122411781860606"/>
        </c:manualLayout>
      </c:layout>
      <c:lineChart>
        <c:grouping val="standard"/>
        <c:varyColors val="0"/>
        <c:ser>
          <c:idx val="0"/>
          <c:order val="0"/>
          <c:tx>
            <c:strRef>
              <c:f>'Задание 2 Домашки'!$B$31:$B$32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Домашки'!$A$33:$A$58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Домашки'!$B$33:$B$58</c:f>
              <c:numCache>
                <c:formatCode>0.00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61-49BC-B9AE-4C4D30263617}"/>
            </c:ext>
          </c:extLst>
        </c:ser>
        <c:ser>
          <c:idx val="1"/>
          <c:order val="1"/>
          <c:tx>
            <c:strRef>
              <c:f>'Задание 2 Домашки'!$C$31:$C$32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Домашки'!$A$33:$A$58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Домашки'!$C$33:$C$58</c:f>
              <c:numCache>
                <c:formatCode>0.00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61-49BC-B9AE-4C4D30263617}"/>
            </c:ext>
          </c:extLst>
        </c:ser>
        <c:ser>
          <c:idx val="2"/>
          <c:order val="2"/>
          <c:tx>
            <c:strRef>
              <c:f>'Задание 2 Домашки'!$D$31:$D$32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'Задание 2 Домашки'!$A$33:$A$58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'Задание 2 Домашки'!$D$33:$D$58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61-49BC-B9AE-4C4D30263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465967"/>
        <c:axId val="862457807"/>
      </c:lineChart>
      <c:catAx>
        <c:axId val="8624659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57807"/>
        <c:crosses val="autoZero"/>
        <c:auto val="1"/>
        <c:lblAlgn val="ctr"/>
        <c:lblOffset val="100"/>
        <c:noMultiLvlLbl val="0"/>
      </c:catAx>
      <c:valAx>
        <c:axId val="862457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2465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[13 11_02_5166e41bdbe99fc3.58185703Техзадание2 (1).xlsx]Задание 1!Сводная таблица17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длительности операций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7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1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1'!$B$7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A5E-49AE-A921-8F4AE561155D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5E-49AE-A921-8F4AE561155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A5E-49AE-A921-8F4AE56115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1'!$A$8:$A$11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1'!$B$8:$B$11</c:f>
              <c:numCache>
                <c:formatCode>0.0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5E-49AE-A921-8F4AE56115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4764672"/>
        <c:axId val="1964765088"/>
      </c:barChart>
      <c:catAx>
        <c:axId val="1964764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4765088"/>
        <c:crosses val="autoZero"/>
        <c:auto val="1"/>
        <c:lblAlgn val="ctr"/>
        <c:lblOffset val="100"/>
        <c:noMultiLvlLbl val="0"/>
      </c:catAx>
      <c:valAx>
        <c:axId val="196476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4764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[13 11_02_5166e41bdbe99fc3.58185703Техзадание2 (1).xlsx]Задание 1!Сводная таблица18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 длительности операций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7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1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1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rgbClr val="FFC000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19"/>
        <c:spPr>
          <a:solidFill>
            <a:srgbClr val="FFC000"/>
          </a:solidFill>
          <a:ln>
            <a:solidFill>
              <a:sysClr val="windowText" lastClr="000000"/>
            </a:solidFill>
          </a:ln>
          <a:effectLst/>
        </c:spPr>
      </c:pivotFmt>
      <c:pivotFmt>
        <c:idx val="2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2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2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4"/>
        <c:spPr>
          <a:solidFill>
            <a:srgbClr val="FFC000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7"/>
        <c:spPr>
          <a:solidFill>
            <a:srgbClr val="FFC000"/>
          </a:solidFill>
          <a:ln>
            <a:solidFill>
              <a:sysClr val="windowText" lastClr="000000"/>
            </a:solidFill>
          </a:ln>
          <a:effectLst/>
        </c:spPr>
      </c:pivotFmt>
      <c:pivotFmt>
        <c:idx val="28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0"/>
        <c:spPr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</c:pivotFmt>
      <c:pivotFmt>
        <c:idx val="3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2"/>
        <c:spPr>
          <a:solidFill>
            <a:srgbClr val="FFC000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3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35"/>
        <c:spPr>
          <a:solidFill>
            <a:srgbClr val="FFC000"/>
          </a:solidFill>
          <a:ln>
            <a:solidFill>
              <a:sysClr val="windowText" lastClr="000000"/>
            </a:solidFill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1'!$B$21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A3-498B-B19E-54851D6A93C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A3-498B-B19E-54851D6A93CC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A3-498B-B19E-54851D6A93C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1'!$A$22:$A$25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1'!$B$22:$B$25</c:f>
              <c:numCache>
                <c:formatCode>0.0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A3-498B-B19E-54851D6A93CC}"/>
            </c:ext>
          </c:extLst>
        </c:ser>
        <c:ser>
          <c:idx val="1"/>
          <c:order val="1"/>
          <c:tx>
            <c:strRef>
              <c:f>'Задание 1'!$C$21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4A3-498B-B19E-54851D6A93C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E4A3-498B-B19E-54851D6A93C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E4A3-498B-B19E-54851D6A93C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'Задание 1'!$A$22:$A$25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1'!$C$22:$C$25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4A3-498B-B19E-54851D6A93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4764672"/>
        <c:axId val="1964765088"/>
      </c:barChart>
      <c:catAx>
        <c:axId val="1964764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4765088"/>
        <c:crosses val="autoZero"/>
        <c:auto val="1"/>
        <c:lblAlgn val="ctr"/>
        <c:lblOffset val="100"/>
        <c:noMultiLvlLbl val="0"/>
      </c:catAx>
      <c:valAx>
        <c:axId val="196476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47646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[13 11_02_5166e41bdbe99fc3.58185703Техзадание2 (1).xlsx]Задание 1!Сводная таблица19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baseline="0" dirty="0">
                <a:effectLst/>
              </a:rPr>
              <a:t>Динамика длительности операций</a:t>
            </a:r>
            <a:endParaRPr lang="ru-RU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FF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rgbClr val="FFFF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rgbClr val="FFFF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1'!$B$35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9E-4C43-B4BC-EC90015A722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9E-4C43-B4BC-EC90015A722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9E-4C43-B4BC-EC90015A722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1'!$A$36:$A$39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1'!$B$36:$B$39</c:f>
              <c:numCache>
                <c:formatCode>0.0</c:formatCode>
                <c:ptCount val="3"/>
                <c:pt idx="0">
                  <c:v>141.45841391557175</c:v>
                </c:pt>
                <c:pt idx="1">
                  <c:v>96.853896101268447</c:v>
                </c:pt>
                <c:pt idx="2">
                  <c:v>96.28673833869999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9E-4C43-B4BC-EC90015A722A}"/>
            </c:ext>
          </c:extLst>
        </c:ser>
        <c:ser>
          <c:idx val="1"/>
          <c:order val="1"/>
          <c:tx>
            <c:strRef>
              <c:f>'Задание 1'!$C$35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1'!$A$36:$A$39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1'!$C$36:$C$39</c:f>
              <c:numCache>
                <c:formatCode>General</c:formatCode>
                <c:ptCount val="3"/>
                <c:pt idx="0">
                  <c:v>517</c:v>
                </c:pt>
                <c:pt idx="1">
                  <c:v>616</c:v>
                </c:pt>
                <c:pt idx="2">
                  <c:v>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09E-4C43-B4BC-EC90015A7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3823728"/>
        <c:axId val="1963822896"/>
      </c:barChart>
      <c:catAx>
        <c:axId val="196382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3822896"/>
        <c:crosses val="autoZero"/>
        <c:auto val="1"/>
        <c:lblAlgn val="ctr"/>
        <c:lblOffset val="100"/>
        <c:noMultiLvlLbl val="0"/>
      </c:catAx>
      <c:valAx>
        <c:axId val="196382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382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Динамика среднего чека в рассматриваемом периоде</a:t>
            </a:r>
            <a:endParaRPr lang="ru-RU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'[19 20_07_1866ec8476822494.376477171914_35_4666ec36c22d5256.450066521911_43_5666ec0e7cb1b5f2.365636371311_02_5166e41bdbe99fc3.58185703Техзадание2.xlsx]Задание 1.2'!$B$21:$B$23</c:f>
              <c:numCache>
                <c:formatCode>_-* #\ ##0.00_-;\-* #\ ##0.00_-;_-* "-"??_-;_-@_-</c:formatCode>
                <c:ptCount val="3"/>
                <c:pt idx="0">
                  <c:v>18518.769268774704</c:v>
                </c:pt>
                <c:pt idx="1">
                  <c:v>18358.344132328471</c:v>
                </c:pt>
                <c:pt idx="2">
                  <c:v>19769.976126529393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EE-4538-8455-F9DF7CAE3C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9215983"/>
        <c:axId val="91922471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chemeClr val="accent5">
                      <a:tint val="77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'[19 20_07_1866ec8476822494.376477171914_35_4666ec36c22d5256.450066521911_43_5666ec0e7cb1b5f2.365636371311_02_5166e41bdbe99fc3.58185703Техзадание2.xlsx]Задание 1.2'!$A$21:$A$23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5</c:v>
                      </c:pt>
                      <c:pt idx="1">
                        <c:v>6</c:v>
                      </c:pt>
                      <c:pt idx="2">
                        <c:v>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19EE-4538-8455-F9DF7CAE3CE7}"/>
                  </c:ext>
                </c:extLst>
              </c15:ser>
            </c15:filteredBarSeries>
          </c:ext>
        </c:extLst>
      </c:barChart>
      <c:catAx>
        <c:axId val="9192159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9224719"/>
        <c:crosses val="autoZero"/>
        <c:auto val="1"/>
        <c:lblAlgn val="ctr"/>
        <c:lblOffset val="100"/>
        <c:noMultiLvlLbl val="0"/>
      </c:catAx>
      <c:valAx>
        <c:axId val="919224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.00_-;\-* #\ ##0.0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9215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[19 20_07_1866ec8476822494.376477171914_35_4666ec36c22d5256.450066521911_43_5666ec0e7cb1b5f2.365636371311_02_5166e41bdbe99fc3.58185703Техзадание2.xlsx]Задание 2!Сводная таблица1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 экономии клиентов и количества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'Задание 2'!$B$1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2'!$A$2:$A$5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2'!$B$2:$B$5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B-49F3-B449-2CE43B1F9F7D}"/>
            </c:ext>
          </c:extLst>
        </c:ser>
        <c:ser>
          <c:idx val="1"/>
          <c:order val="1"/>
          <c:tx>
            <c:strRef>
              <c:f>'Задание 2'!$C$1</c:f>
              <c:strCache>
                <c:ptCount val="1"/>
                <c:pt idx="0">
                  <c:v>Среднее по полю Экономия клиента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2'!$A$2:$A$5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2'!$C$2:$C$5</c:f>
              <c:numCache>
                <c:formatCode>General</c:formatCode>
                <c:ptCount val="3"/>
                <c:pt idx="0">
                  <c:v>121.57484105731227</c:v>
                </c:pt>
                <c:pt idx="1">
                  <c:v>125.98861221493597</c:v>
                </c:pt>
                <c:pt idx="2">
                  <c:v>136.90697213767027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8B-49F3-B449-2CE43B1F9F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96062335"/>
        <c:axId val="896063999"/>
      </c:barChart>
      <c:catAx>
        <c:axId val="896062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96063999"/>
        <c:crosses val="autoZero"/>
        <c:auto val="1"/>
        <c:lblAlgn val="ctr"/>
        <c:lblOffset val="100"/>
        <c:noMultiLvlLbl val="0"/>
      </c:catAx>
      <c:valAx>
        <c:axId val="896063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9606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[19 20_07_1866ec8476822494.376477171914_35_4666ec36c22d5256.450066521911_43_5666ec0e7cb1b5f2.365636371311_02_5166e41bdbe99fc3.58185703Техзадание2.xlsx]Задание 3!Сводная таблица3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</a:t>
            </a:r>
            <a:r>
              <a:rPr lang="ru-RU" baseline="0" dirty="0"/>
              <a:t> сумм экономии клиента в рамках </a:t>
            </a:r>
            <a:r>
              <a:rPr lang="ru-RU" baseline="0" dirty="0" err="1"/>
              <a:t>бинов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3'!$B$1:$B$2</c:f>
              <c:strCache>
                <c:ptCount val="1"/>
                <c:pt idx="0">
                  <c:v>0%</c:v>
                </c:pt>
              </c:strCache>
            </c:strRef>
          </c:tx>
          <c:spPr>
            <a:solidFill>
              <a:schemeClr val="accent1">
                <a:shade val="53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3'!$A$3:$A$6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3'!$B$3:$B$6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E4-4113-8502-4BD4E88FAF1D}"/>
            </c:ext>
          </c:extLst>
        </c:ser>
        <c:ser>
          <c:idx val="1"/>
          <c:order val="1"/>
          <c:tx>
            <c:strRef>
              <c:f>'Задание 3'!$C$1:$C$2</c:f>
              <c:strCache>
                <c:ptCount val="1"/>
                <c:pt idx="0">
                  <c:v>1%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3'!$A$3:$A$6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3'!$C$3:$C$6</c:f>
              <c:numCache>
                <c:formatCode>0.0</c:formatCode>
                <c:ptCount val="3"/>
                <c:pt idx="0">
                  <c:v>83629.708499999892</c:v>
                </c:pt>
                <c:pt idx="1">
                  <c:v>80884.706900000077</c:v>
                </c:pt>
                <c:pt idx="2">
                  <c:v>80355.193200000067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E4-4113-8502-4BD4E88FAF1D}"/>
            </c:ext>
          </c:extLst>
        </c:ser>
        <c:ser>
          <c:idx val="2"/>
          <c:order val="2"/>
          <c:tx>
            <c:strRef>
              <c:f>'Задание 3'!$D$1:$D$2</c:f>
              <c:strCache>
                <c:ptCount val="1"/>
                <c:pt idx="0">
                  <c:v>2%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3'!$A$3:$A$6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3'!$D$3:$D$6</c:f>
              <c:numCache>
                <c:formatCode>0.0</c:formatCode>
                <c:ptCount val="3"/>
                <c:pt idx="0">
                  <c:v>225103.24589999992</c:v>
                </c:pt>
                <c:pt idx="1">
                  <c:v>244555.18260000023</c:v>
                </c:pt>
                <c:pt idx="2">
                  <c:v>249291.02260000014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E4-4113-8502-4BD4E88FAF1D}"/>
            </c:ext>
          </c:extLst>
        </c:ser>
        <c:ser>
          <c:idx val="3"/>
          <c:order val="3"/>
          <c:tx>
            <c:strRef>
              <c:f>'Задание 3'!$E$1:$E$2</c:f>
              <c:strCache>
                <c:ptCount val="1"/>
                <c:pt idx="0">
                  <c:v>3%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3'!$A$3:$A$6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3'!$E$3:$E$6</c:f>
              <c:numCache>
                <c:formatCode>0.0</c:formatCode>
                <c:ptCount val="3"/>
                <c:pt idx="0">
                  <c:v>385051.9452999995</c:v>
                </c:pt>
                <c:pt idx="1">
                  <c:v>391402.90419999982</c:v>
                </c:pt>
                <c:pt idx="2">
                  <c:v>450481.44730000029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E4-4113-8502-4BD4E88FAF1D}"/>
            </c:ext>
          </c:extLst>
        </c:ser>
        <c:ser>
          <c:idx val="4"/>
          <c:order val="4"/>
          <c:tx>
            <c:strRef>
              <c:f>'Задание 3'!$F$1:$F$2</c:f>
              <c:strCache>
                <c:ptCount val="1"/>
                <c:pt idx="0">
                  <c:v>4%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'Задание 3'!$A$3:$A$6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3'!$F$3:$F$6</c:f>
              <c:numCache>
                <c:formatCode>0.0</c:formatCode>
                <c:ptCount val="3"/>
                <c:pt idx="0">
                  <c:v>536552.49179999984</c:v>
                </c:pt>
                <c:pt idx="1">
                  <c:v>570382.85730000061</c:v>
                </c:pt>
                <c:pt idx="2">
                  <c:v>596198.12779999978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E4-4113-8502-4BD4E88FA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8494767"/>
        <c:axId val="1838491855"/>
      </c:barChart>
      <c:catAx>
        <c:axId val="1838494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8491855"/>
        <c:crosses val="autoZero"/>
        <c:auto val="1"/>
        <c:lblAlgn val="ctr"/>
        <c:lblOffset val="100"/>
        <c:noMultiLvlLbl val="0"/>
      </c:catAx>
      <c:valAx>
        <c:axId val="183849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8494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/>
              <a:t>Динамика</a:t>
            </a:r>
            <a:r>
              <a:rPr lang="ru-RU" sz="1800" baseline="0" dirty="0"/>
              <a:t> сумм экономии клиента с новыми скидками</a:t>
            </a:r>
            <a:endParaRPr lang="ru-RU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4'!$B$9:$B$11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4'!$C$9:$C$11</c:f>
              <c:numCache>
                <c:formatCode>General</c:formatCode>
                <c:ptCount val="3"/>
                <c:pt idx="0">
                  <c:v>106.4347788043481</c:v>
                </c:pt>
                <c:pt idx="1">
                  <c:v>109.99713232847246</c:v>
                </c:pt>
                <c:pt idx="2">
                  <c:v>119.92723375111878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F-459E-8F79-BEDE9A821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9913103"/>
        <c:axId val="1169922255"/>
      </c:barChart>
      <c:catAx>
        <c:axId val="1169913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9922255"/>
        <c:crosses val="autoZero"/>
        <c:auto val="1"/>
        <c:lblAlgn val="ctr"/>
        <c:lblOffset val="100"/>
        <c:noMultiLvlLbl val="0"/>
      </c:catAx>
      <c:valAx>
        <c:axId val="1169922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9913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C18CD-8E19-49F9-8C71-96047FE3CEB1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19827-3F9B-4501-99AF-2B02432092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62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19827-3F9B-4501-99AF-2B02432092D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46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27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97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34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34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69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76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63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72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09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23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D26E7-C1C9-4C99-A2AD-564819F7FE45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269BF-BC8B-47D0-AE7B-B147FAB91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08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58800" y="1214438"/>
            <a:ext cx="11074400" cy="2387600"/>
          </a:xfrm>
        </p:spPr>
        <p:txBody>
          <a:bodyPr>
            <a:normAutofit fontScale="90000"/>
          </a:bodyPr>
          <a:lstStyle/>
          <a:p>
            <a:br>
              <a:rPr lang="ru-RU" sz="5300" dirty="0">
                <a:latin typeface="Arial Black" panose="020B0A04020102020204" pitchFamily="34" charset="0"/>
              </a:rPr>
            </a:b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Анализ работы торгового </a:t>
            </a:r>
            <a:r>
              <a:rPr lang="ru-RU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ретейлера</a:t>
            </a:r>
            <a:endParaRPr lang="ru-RU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8800" y="4922838"/>
            <a:ext cx="9144000" cy="1655762"/>
          </a:xfrm>
        </p:spPr>
        <p:txBody>
          <a:bodyPr/>
          <a:lstStyle/>
          <a:p>
            <a:pPr algn="l"/>
            <a:r>
              <a:rPr lang="ru-RU" b="1" dirty="0"/>
              <a:t>Аналитик:</a:t>
            </a:r>
            <a:r>
              <a:rPr lang="ru-RU" dirty="0"/>
              <a:t> </a:t>
            </a:r>
            <a:r>
              <a:rPr lang="ru-RU" dirty="0" err="1"/>
              <a:t>Которобай</a:t>
            </a:r>
            <a:r>
              <a:rPr lang="ru-RU" dirty="0"/>
              <a:t> Дарья</a:t>
            </a:r>
          </a:p>
          <a:p>
            <a:pPr algn="l"/>
            <a:r>
              <a:rPr lang="ru-RU" b="1" dirty="0"/>
              <a:t>Отдел: </a:t>
            </a:r>
            <a:r>
              <a:rPr lang="en-US" dirty="0"/>
              <a:t>94.2.1 IND</a:t>
            </a:r>
            <a:endParaRPr lang="ru-RU" dirty="0"/>
          </a:p>
        </p:txBody>
      </p:sp>
      <p:pic>
        <p:nvPicPr>
          <p:cNvPr id="5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130" y="400469"/>
            <a:ext cx="713451" cy="7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060" y="614219"/>
            <a:ext cx="706140" cy="60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982" y="481371"/>
            <a:ext cx="720818" cy="55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806" y="1214438"/>
            <a:ext cx="720818" cy="72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Picture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40" y="3865451"/>
            <a:ext cx="713272" cy="7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232" y="3422796"/>
            <a:ext cx="621898" cy="62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850" y="3937501"/>
            <a:ext cx="789321" cy="64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icture background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624" y="5445311"/>
            <a:ext cx="994352" cy="61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Picture background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2" y="3037416"/>
            <a:ext cx="647989" cy="56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icture background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587" y="1120043"/>
            <a:ext cx="815213" cy="81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Picture background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782" y="5750719"/>
            <a:ext cx="547684" cy="54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90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00" y="437569"/>
            <a:ext cx="6533020" cy="96573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Цель исследования и исходные данные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580583" y="1662663"/>
            <a:ext cx="8559297" cy="1605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Исследование работы </a:t>
            </a:r>
            <a:r>
              <a:rPr lang="ru-RU" dirty="0" err="1"/>
              <a:t>ретейлера</a:t>
            </a:r>
            <a:r>
              <a:rPr lang="ru-RU" dirty="0"/>
              <a:t>, анализ и выявление проблем на основе выгруженных данных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606582" y="1874067"/>
            <a:ext cx="8510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Объект 2"/>
          <p:cNvSpPr txBox="1">
            <a:spLocks/>
          </p:cNvSpPr>
          <p:nvPr/>
        </p:nvSpPr>
        <p:spPr>
          <a:xfrm>
            <a:off x="311400" y="3080851"/>
            <a:ext cx="5917335" cy="546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Исходные данные о </a:t>
            </a:r>
            <a:r>
              <a:rPr lang="ru-RU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ретейлере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1457608" y="3627249"/>
            <a:ext cx="2897109" cy="220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Торговые точки: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968732"/>
              </p:ext>
            </p:extLst>
          </p:nvPr>
        </p:nvGraphicFramePr>
        <p:xfrm>
          <a:off x="1493822" y="4336209"/>
          <a:ext cx="2567649" cy="17326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649">
                  <a:extLst>
                    <a:ext uri="{9D8B030D-6E8A-4147-A177-3AD203B41FA5}">
                      <a16:colId xmlns:a16="http://schemas.microsoft.com/office/drawing/2014/main" val="978799046"/>
                    </a:ext>
                  </a:extLst>
                </a:gridCol>
              </a:tblGrid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ул. Щорса, 26/3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6123872"/>
                  </a:ext>
                </a:extLst>
              </a:tr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пр-т Вернадского, 88к3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8906531"/>
                  </a:ext>
                </a:extLst>
              </a:tr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Ленинский пр-т, 162/1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1058194"/>
                  </a:ext>
                </a:extLst>
              </a:tr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Ракетный б-р, 14к1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5771413"/>
                  </a:ext>
                </a:extLst>
              </a:tr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Симферопольский б-р, 22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9240416"/>
                  </a:ext>
                </a:extLst>
              </a:tr>
              <a:tr h="2887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ул. </a:t>
                      </a:r>
                      <a:r>
                        <a:rPr lang="ru-RU" sz="1600" u="none" strike="noStrike" dirty="0" err="1">
                          <a:effectLst/>
                        </a:rPr>
                        <a:t>Чертановская</a:t>
                      </a:r>
                      <a:r>
                        <a:rPr lang="ru-RU" sz="1600" u="none" strike="noStrike" dirty="0">
                          <a:effectLst/>
                        </a:rPr>
                        <a:t>,  20к2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7835713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716966"/>
              </p:ext>
            </p:extLst>
          </p:nvPr>
        </p:nvGraphicFramePr>
        <p:xfrm>
          <a:off x="5655365" y="4336209"/>
          <a:ext cx="1353558" cy="7600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3558">
                  <a:extLst>
                    <a:ext uri="{9D8B030D-6E8A-4147-A177-3AD203B41FA5}">
                      <a16:colId xmlns:a16="http://schemas.microsoft.com/office/drawing/2014/main" val="24805358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</a:rPr>
                        <a:t>МИР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4171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Visa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1058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MasterCard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9139837"/>
                  </a:ext>
                </a:extLst>
              </a:tr>
            </a:tbl>
          </a:graphicData>
        </a:graphic>
      </p:graphicFrame>
      <p:sp>
        <p:nvSpPr>
          <p:cNvPr id="20" name="Объект 2"/>
          <p:cNvSpPr txBox="1">
            <a:spLocks/>
          </p:cNvSpPr>
          <p:nvPr/>
        </p:nvSpPr>
        <p:spPr>
          <a:xfrm>
            <a:off x="4621727" y="3627249"/>
            <a:ext cx="3559521" cy="220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Платежные системы: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46667"/>
              </p:ext>
            </p:extLst>
          </p:nvPr>
        </p:nvGraphicFramePr>
        <p:xfrm>
          <a:off x="9011152" y="4328648"/>
          <a:ext cx="1373171" cy="15201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3171">
                  <a:extLst>
                    <a:ext uri="{9D8B030D-6E8A-4147-A177-3AD203B41FA5}">
                      <a16:colId xmlns:a16="http://schemas.microsoft.com/office/drawing/2014/main" val="196765299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Рубль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6929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Доллар (США)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12681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Евро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2385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Тенге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07211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Юань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02706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Йена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2404434"/>
                  </a:ext>
                </a:extLst>
              </a:tr>
            </a:tbl>
          </a:graphicData>
        </a:graphic>
      </p:graphicFrame>
      <p:sp>
        <p:nvSpPr>
          <p:cNvPr id="22" name="Объект 2"/>
          <p:cNvSpPr txBox="1">
            <a:spLocks/>
          </p:cNvSpPr>
          <p:nvPr/>
        </p:nvSpPr>
        <p:spPr>
          <a:xfrm>
            <a:off x="8448258" y="3644163"/>
            <a:ext cx="3559521" cy="220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Валюты платежа: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4552384" y="4399984"/>
            <a:ext cx="0" cy="1668911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8099834" y="4399983"/>
            <a:ext cx="0" cy="1668911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бъект 2"/>
          <p:cNvSpPr txBox="1">
            <a:spLocks/>
          </p:cNvSpPr>
          <p:nvPr/>
        </p:nvSpPr>
        <p:spPr>
          <a:xfrm>
            <a:off x="5515243" y="5703492"/>
            <a:ext cx="1772488" cy="496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/>
              <a:t>Серверы – 3 шт.</a:t>
            </a:r>
          </a:p>
        </p:txBody>
      </p:sp>
    </p:spTree>
    <p:extLst>
      <p:ext uri="{BB962C8B-B14F-4D97-AF65-F5344CB8AC3E}">
        <p14:creationId xmlns:p14="http://schemas.microsoft.com/office/powerpoint/2010/main" val="147209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16B13DE8-0439-9FB3-0F8D-DB2AB220BE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354790"/>
              </p:ext>
            </p:extLst>
          </p:nvPr>
        </p:nvGraphicFramePr>
        <p:xfrm>
          <a:off x="253875" y="835544"/>
          <a:ext cx="4852279" cy="3060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53875" y="3816964"/>
            <a:ext cx="44893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количество транзакций растет на протяжении 4 дней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открылась новая торговая точка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после 3 сентября количество транзакций на Симферопольском снизилось – следствие открытия новой точки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720AA791-1DF5-848A-D25B-B4EC7E0B47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635449"/>
              </p:ext>
            </p:extLst>
          </p:nvPr>
        </p:nvGraphicFramePr>
        <p:xfrm>
          <a:off x="6942878" y="283509"/>
          <a:ext cx="4714875" cy="2719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6192571" y="2835595"/>
            <a:ext cx="57735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 3го сентября на сервер 3 сильно увеличилась нагрузка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6942878" y="3612332"/>
            <a:ext cx="8510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253875" y="6235791"/>
            <a:ext cx="5773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</a:rPr>
              <a:t>Но как связаны рост количества и рост длительности транзакций?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18989" y="195580"/>
            <a:ext cx="4832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Проблема: </a:t>
            </a:r>
            <a:r>
              <a:rPr lang="ru-RU" sz="2000" dirty="0">
                <a:solidFill>
                  <a:srgbClr val="7030A0"/>
                </a:solidFill>
              </a:rPr>
              <a:t>рост длительности транзакций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793904" y="3289166"/>
            <a:ext cx="4570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нужно перераспределить транзакции торговых точек по серверам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E7946F6F-B52F-F760-5A79-7EBF2E122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717431"/>
              </p:ext>
            </p:extLst>
          </p:nvPr>
        </p:nvGraphicFramePr>
        <p:xfrm>
          <a:off x="7004790" y="4119563"/>
          <a:ext cx="4591049" cy="2738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Прямая соединительная линия 12"/>
          <p:cNvCxnSpPr/>
          <p:nvPr/>
        </p:nvCxnSpPr>
        <p:spPr>
          <a:xfrm>
            <a:off x="5960782" y="1498466"/>
            <a:ext cx="0" cy="3971925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18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04924" y="311150"/>
            <a:ext cx="6315075" cy="10509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Определить причину повышения средней длительности операций 1 сентября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82448" y="492942"/>
            <a:ext cx="8510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1C394F64-CD4A-579D-ABD5-EEAFFD4E3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420212"/>
              </p:ext>
            </p:extLst>
          </p:nvPr>
        </p:nvGraphicFramePr>
        <p:xfrm>
          <a:off x="180975" y="1690966"/>
          <a:ext cx="5734050" cy="3147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B17A4D97-A31F-7C93-6611-A7D12F125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5334754"/>
              </p:ext>
            </p:extLst>
          </p:nvPr>
        </p:nvGraphicFramePr>
        <p:xfrm>
          <a:off x="6591301" y="1690966"/>
          <a:ext cx="5429250" cy="328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282448" y="497204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2 сервере и торговых точках на 2 сервере наблюдаются долгое совершение транзакций в период с 10 до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1 сервере и торговой точке на 1 сервере с 2 до 6 утра повысилась длительность транзакций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6965886" y="5141142"/>
            <a:ext cx="8510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8029765" y="4933948"/>
            <a:ext cx="3771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причины повышения длительности транзакций: </a:t>
            </a:r>
            <a:r>
              <a:rPr lang="ru-RU" dirty="0"/>
              <a:t>замедление сети Интернет в районе ТТ, проведение скидок и большое количество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143775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0525" y="225425"/>
            <a:ext cx="5743575" cy="117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 звеньях, отмеченных цветами, происходили технические проблемы</a:t>
            </a:r>
          </a:p>
          <a:p>
            <a:pPr marL="0" indent="0">
              <a:buNone/>
            </a:pPr>
            <a:r>
              <a:rPr lang="ru-RU" sz="1800" dirty="0"/>
              <a:t>Как они повлияли на длительность операций?</a:t>
            </a:r>
          </a:p>
        </p:txBody>
      </p:sp>
      <p:pic>
        <p:nvPicPr>
          <p:cNvPr id="2050" name="Picture 2" descr="https://cdn-user36618.skyeng.ru/skyconvert/unsafe/fit-in/684x/https:/cdn-user12724.skyeng.ru/image/cefe6928fb639f755cbb02f6176536b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" r="10598"/>
          <a:stretch/>
        </p:blipFill>
        <p:spPr bwMode="auto">
          <a:xfrm>
            <a:off x="58595" y="2111374"/>
            <a:ext cx="6307578" cy="336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343650" y="1631950"/>
            <a:ext cx="55149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  <a:latin typeface="InterSkyeng"/>
              </a:rPr>
              <a:t>Сиреневый</a:t>
            </a:r>
            <a:r>
              <a:rPr lang="ru-RU" b="1" dirty="0">
                <a:solidFill>
                  <a:srgbClr val="242D34"/>
                </a:solidFill>
                <a:latin typeface="InterSkyeng"/>
              </a:rPr>
              <a:t> </a:t>
            </a:r>
            <a:r>
              <a:rPr lang="ru-RU" dirty="0">
                <a:solidFill>
                  <a:srgbClr val="242D34"/>
                </a:solidFill>
                <a:latin typeface="InterSkyeng"/>
              </a:rPr>
              <a:t>— сервер 1 в период с 00:00 по 9:00 в день 05.09</a:t>
            </a:r>
          </a:p>
          <a:p>
            <a:r>
              <a:rPr lang="ru-RU" b="1" dirty="0">
                <a:solidFill>
                  <a:srgbClr val="FFC000"/>
                </a:solidFill>
                <a:latin typeface="InterSkyeng"/>
              </a:rPr>
              <a:t>Оранжевый</a:t>
            </a:r>
            <a:r>
              <a:rPr lang="ru-RU" b="1" dirty="0">
                <a:solidFill>
                  <a:srgbClr val="242D34"/>
                </a:solidFill>
                <a:latin typeface="InterSkyeng"/>
              </a:rPr>
              <a:t> </a:t>
            </a:r>
            <a:r>
              <a:rPr lang="ru-RU" dirty="0">
                <a:solidFill>
                  <a:srgbClr val="242D34"/>
                </a:solidFill>
                <a:latin typeface="InterSkyeng"/>
              </a:rPr>
              <a:t>— сервер 2 в период 12.00-13.00 в день 07.09</a:t>
            </a:r>
          </a:p>
          <a:p>
            <a:r>
              <a:rPr lang="ru-RU" b="1" dirty="0">
                <a:solidFill>
                  <a:srgbClr val="FF0000"/>
                </a:solidFill>
                <a:latin typeface="InterSkyeng"/>
              </a:rPr>
              <a:t>Красный</a:t>
            </a:r>
            <a:r>
              <a:rPr lang="ru-RU" b="1" dirty="0">
                <a:solidFill>
                  <a:srgbClr val="242D34"/>
                </a:solidFill>
                <a:latin typeface="InterSkyeng"/>
              </a:rPr>
              <a:t> </a:t>
            </a:r>
            <a:r>
              <a:rPr lang="ru-RU" dirty="0">
                <a:solidFill>
                  <a:srgbClr val="242D34"/>
                </a:solidFill>
                <a:latin typeface="InterSkyeng"/>
              </a:rPr>
              <a:t>— сервер 1 в течение всего дня 06.09</a:t>
            </a:r>
            <a:endParaRPr lang="ru-RU" b="0" i="0" dirty="0">
              <a:solidFill>
                <a:srgbClr val="242D34"/>
              </a:solidFill>
              <a:effectLst/>
              <a:latin typeface="InterSkyeng"/>
            </a:endParaRPr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485" y="3657600"/>
            <a:ext cx="2657972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89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494" y="2845593"/>
            <a:ext cx="4088608" cy="654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1600" dirty="0"/>
              <a:t>На сервере 1 6го сентября наблюдается повышение длительности операций </a:t>
            </a:r>
            <a:r>
              <a:rPr lang="ru-RU" sz="1600" dirty="0">
                <a:solidFill>
                  <a:srgbClr val="C00000"/>
                </a:solidFill>
              </a:rPr>
              <a:t>на 23,59%</a:t>
            </a: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</p:txBody>
      </p:sp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500133"/>
              </p:ext>
            </p:extLst>
          </p:nvPr>
        </p:nvGraphicFramePr>
        <p:xfrm>
          <a:off x="550068" y="431006"/>
          <a:ext cx="3814763" cy="2414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8217488"/>
              </p:ext>
            </p:extLst>
          </p:nvPr>
        </p:nvGraphicFramePr>
        <p:xfrm>
          <a:off x="4364831" y="1202531"/>
          <a:ext cx="3867150" cy="2586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105281"/>
              </p:ext>
            </p:extLst>
          </p:nvPr>
        </p:nvGraphicFramePr>
        <p:xfrm>
          <a:off x="8231981" y="2702718"/>
          <a:ext cx="4048125" cy="2357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7153275" y="5288755"/>
            <a:ext cx="487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dirty="0"/>
              <a:t>На сервере 1 5го сентября наблюдается повышение длительности операций </a:t>
            </a:r>
            <a:r>
              <a:rPr lang="ru-RU" sz="1600" b="1" dirty="0">
                <a:solidFill>
                  <a:srgbClr val="7030A0"/>
                </a:solidFill>
              </a:rPr>
              <a:t>на 46,46%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431381" y="3872704"/>
            <a:ext cx="480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На сервере 2 7го сентября наблюдается повышение длительности операций </a:t>
            </a:r>
            <a:r>
              <a:rPr lang="ru-RU" sz="1600" b="1" dirty="0">
                <a:solidFill>
                  <a:srgbClr val="FFC000"/>
                </a:solidFill>
              </a:rPr>
              <a:t>на 69,05%</a:t>
            </a:r>
          </a:p>
        </p:txBody>
      </p:sp>
      <p:pic>
        <p:nvPicPr>
          <p:cNvPr id="10" name="Picture 2" descr="https://cdn-user36618.skyeng.ru/skyconvert/unsafe/fit-in/684x/https:/cdn-user12724.skyeng.ru/image/cefe6928fb639f755cbb02f6176536bd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2" r="37489" b="59434"/>
          <a:stretch/>
        </p:blipFill>
        <p:spPr bwMode="auto">
          <a:xfrm>
            <a:off x="9444975" y="1114425"/>
            <a:ext cx="2601769" cy="1473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cdn-user36618.skyeng.ru/skyconvert/unsafe/fit-in/684x/https:/cdn-user12724.skyeng.ru/image/cefe6928fb639f755cbb02f6176536bd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5" t="16793" r="26435" b="43301"/>
          <a:stretch/>
        </p:blipFill>
        <p:spPr bwMode="auto">
          <a:xfrm>
            <a:off x="4254102" y="4526754"/>
            <a:ext cx="2964272" cy="14025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cdn-user36618.skyeng.ru/skyconvert/unsafe/fit-in/684x/https:/cdn-user12724.skyeng.ru/image/cefe6928fb639f755cbb02f6176536bd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" t="37883" r="52036" b="2507"/>
          <a:stretch/>
        </p:blipFill>
        <p:spPr bwMode="auto">
          <a:xfrm>
            <a:off x="165494" y="3452449"/>
            <a:ext cx="2939656" cy="1748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27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49" y="234950"/>
            <a:ext cx="10420351" cy="12622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7 сентября действовала акция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Нужно оценить, насколько повысился средний чек за этот период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Рассчитать, покрыл ли </a:t>
            </a:r>
            <a:r>
              <a:rPr lang="ru-RU" sz="2000" dirty="0" err="1"/>
              <a:t>аплифт</a:t>
            </a:r>
            <a:r>
              <a:rPr lang="ru-RU" sz="2000" dirty="0"/>
              <a:t> среднего чека расходы на эту лотерею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 flipH="1">
            <a:off x="436283" y="1552575"/>
            <a:ext cx="5097741" cy="3041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4625"/>
              </p:ext>
            </p:extLst>
          </p:nvPr>
        </p:nvGraphicFramePr>
        <p:xfrm>
          <a:off x="436282" y="1703070"/>
          <a:ext cx="4527603" cy="754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79803">
                  <a:extLst>
                    <a:ext uri="{9D8B030D-6E8A-4147-A177-3AD203B41FA5}">
                      <a16:colId xmlns:a16="http://schemas.microsoft.com/office/drawing/2014/main" val="670200229"/>
                    </a:ext>
                  </a:extLst>
                </a:gridCol>
                <a:gridCol w="1647800">
                  <a:extLst>
                    <a:ext uri="{9D8B030D-6E8A-4147-A177-3AD203B41FA5}">
                      <a16:colId xmlns:a16="http://schemas.microsoft.com/office/drawing/2014/main" val="2371412493"/>
                    </a:ext>
                  </a:extLst>
                </a:gridCol>
              </a:tblGrid>
              <a:tr h="251536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Средней чек за 5-6 сентября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18 438,17 ₽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0992424"/>
                  </a:ext>
                </a:extLst>
              </a:tr>
              <a:tr h="251536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Абсолютная разница с 7 сентября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                    1 331,80 ₽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5882440"/>
                  </a:ext>
                </a:extLst>
              </a:tr>
              <a:tr h="251536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Средний чек увеличился на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7%</a:t>
                      </a:r>
                      <a:endParaRPr lang="ru-RU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9781396"/>
                  </a:ext>
                </a:extLst>
              </a:tr>
            </a:tbl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850932"/>
              </p:ext>
            </p:extLst>
          </p:nvPr>
        </p:nvGraphicFramePr>
        <p:xfrm>
          <a:off x="6417471" y="1552575"/>
          <a:ext cx="5524158" cy="2961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383445"/>
              </p:ext>
            </p:extLst>
          </p:nvPr>
        </p:nvGraphicFramePr>
        <p:xfrm>
          <a:off x="436283" y="3488237"/>
          <a:ext cx="4062184" cy="10257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3770">
                  <a:extLst>
                    <a:ext uri="{9D8B030D-6E8A-4147-A177-3AD203B41FA5}">
                      <a16:colId xmlns:a16="http://schemas.microsoft.com/office/drawing/2014/main" val="1707070176"/>
                    </a:ext>
                  </a:extLst>
                </a:gridCol>
                <a:gridCol w="1478414">
                  <a:extLst>
                    <a:ext uri="{9D8B030D-6E8A-4147-A177-3AD203B41FA5}">
                      <a16:colId xmlns:a16="http://schemas.microsoft.com/office/drawing/2014/main" val="3873948043"/>
                    </a:ext>
                  </a:extLst>
                </a:gridCol>
              </a:tblGrid>
              <a:tr h="341902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50000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5 человек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353099"/>
                  </a:ext>
                </a:extLst>
              </a:tr>
              <a:tr h="341902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10000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10 человек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3406008"/>
                  </a:ext>
                </a:extLst>
              </a:tr>
              <a:tr h="341902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750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2758 человек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1484691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83041" y="3026572"/>
            <a:ext cx="21580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7030A0"/>
                </a:solidFill>
              </a:rPr>
              <a:t>Условия акции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441068" y="3607073"/>
            <a:ext cx="0" cy="851535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23849" y="5082837"/>
            <a:ext cx="54422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Расходы с учетом трат на подарки   –   </a:t>
            </a:r>
            <a:r>
              <a:rPr lang="ru-RU" b="1" dirty="0">
                <a:solidFill>
                  <a:srgbClr val="7030A0"/>
                </a:solidFill>
              </a:rPr>
              <a:t>2 418 500,00</a:t>
            </a:r>
            <a:r>
              <a:rPr lang="ru-RU" dirty="0"/>
              <a:t> </a:t>
            </a:r>
            <a:r>
              <a:rPr lang="ru-RU" b="1" dirty="0">
                <a:solidFill>
                  <a:srgbClr val="7030A0"/>
                </a:solidFill>
              </a:rPr>
              <a:t>₽</a:t>
            </a:r>
          </a:p>
          <a:p>
            <a:r>
              <a:rPr lang="ru-RU" dirty="0">
                <a:latin typeface="Calibri" panose="020F0502020204030204" pitchFamily="34" charset="0"/>
              </a:rPr>
              <a:t>Выручка                           –                         </a:t>
            </a:r>
            <a:r>
              <a:rPr lang="ru-RU" b="1" dirty="0">
                <a:solidFill>
                  <a:srgbClr val="7030A0"/>
                </a:solidFill>
              </a:rPr>
              <a:t>13 388 606,00 ₽</a:t>
            </a:r>
            <a:endParaRPr lang="ru-RU" b="1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277013" y="4959726"/>
            <a:ext cx="387819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суммарный объем прибыли</a:t>
            </a:r>
          </a:p>
          <a:p>
            <a:pPr algn="ctr"/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10 970 105,61 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₽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</a:t>
            </a:r>
            <a:endParaRPr lang="ru-RU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6065209" y="5406002"/>
            <a:ext cx="704523" cy="5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636" y="134021"/>
            <a:ext cx="1821996" cy="141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53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3115" y="315685"/>
            <a:ext cx="4982028" cy="8309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Необходимо оценить, сколько в среднем в день мы теряем в рамках </a:t>
            </a:r>
            <a:r>
              <a:rPr lang="ru-RU" dirty="0">
                <a:solidFill>
                  <a:srgbClr val="7030A0"/>
                </a:solidFill>
              </a:rPr>
              <a:t>программы лояльности</a:t>
            </a:r>
          </a:p>
        </p:txBody>
      </p:sp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8228980"/>
              </p:ext>
            </p:extLst>
          </p:nvPr>
        </p:nvGraphicFramePr>
        <p:xfrm>
          <a:off x="243115" y="1727200"/>
          <a:ext cx="4572000" cy="303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16186"/>
              </p:ext>
            </p:extLst>
          </p:nvPr>
        </p:nvGraphicFramePr>
        <p:xfrm>
          <a:off x="2128158" y="4803507"/>
          <a:ext cx="2686957" cy="10892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6957">
                  <a:extLst>
                    <a:ext uri="{9D8B030D-6E8A-4147-A177-3AD203B41FA5}">
                      <a16:colId xmlns:a16="http://schemas.microsoft.com/office/drawing/2014/main" val="4289762671"/>
                    </a:ext>
                  </a:extLst>
                </a:gridCol>
              </a:tblGrid>
              <a:tr h="714007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Средневзвешенная экономия клиента с 1 транзакции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0550640"/>
                  </a:ext>
                </a:extLst>
              </a:tr>
              <a:tr h="31238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128 ₽</a:t>
                      </a:r>
                      <a:endParaRPr lang="ru-RU" sz="2400" b="1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9114125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689601" y="257966"/>
            <a:ext cx="63572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Open Sans"/>
              </a:rPr>
              <a:t>+ провести сегментацию скидок и оценить, сколько денег суммарно экономят клиенты в рамках каждого </a:t>
            </a:r>
            <a:r>
              <a:rPr lang="ru-RU" sz="2000" dirty="0" err="1">
                <a:solidFill>
                  <a:srgbClr val="000000"/>
                </a:solidFill>
                <a:latin typeface="Open Sans"/>
              </a:rPr>
              <a:t>бина</a:t>
            </a:r>
            <a:endParaRPr lang="ru-RU" sz="2000" dirty="0"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0000000-0008-0000-07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5672588"/>
              </p:ext>
            </p:extLst>
          </p:nvPr>
        </p:nvGraphicFramePr>
        <p:xfrm>
          <a:off x="5689601" y="1727200"/>
          <a:ext cx="6138919" cy="4165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6866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6314" y="577396"/>
            <a:ext cx="7246257" cy="9175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рамках экономии необходимо понизить все скидки свыше 3% на </a:t>
            </a:r>
            <a:r>
              <a:rPr lang="ru-RU" dirty="0">
                <a:solidFill>
                  <a:srgbClr val="7030A0"/>
                </a:solidFill>
              </a:rPr>
              <a:t>1 процентный пункт</a:t>
            </a:r>
          </a:p>
        </p:txBody>
      </p:sp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7914269"/>
              </p:ext>
            </p:extLst>
          </p:nvPr>
        </p:nvGraphicFramePr>
        <p:xfrm>
          <a:off x="712107" y="1854198"/>
          <a:ext cx="5935435" cy="4125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244845"/>
              </p:ext>
            </p:extLst>
          </p:nvPr>
        </p:nvGraphicFramePr>
        <p:xfrm>
          <a:off x="7416799" y="2989943"/>
          <a:ext cx="3933371" cy="11175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6201">
                  <a:extLst>
                    <a:ext uri="{9D8B030D-6E8A-4147-A177-3AD203B41FA5}">
                      <a16:colId xmlns:a16="http://schemas.microsoft.com/office/drawing/2014/main" val="3059209181"/>
                    </a:ext>
                  </a:extLst>
                </a:gridCol>
                <a:gridCol w="957170">
                  <a:extLst>
                    <a:ext uri="{9D8B030D-6E8A-4147-A177-3AD203B41FA5}">
                      <a16:colId xmlns:a16="http://schemas.microsoft.com/office/drawing/2014/main" val="3037056334"/>
                    </a:ext>
                  </a:extLst>
                </a:gridCol>
              </a:tblGrid>
              <a:tr h="558799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С уменьшенными скидками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112,10</a:t>
                      </a:r>
                      <a:endParaRPr lang="ru-RU" sz="2000" b="1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360070"/>
                  </a:ext>
                </a:extLst>
              </a:tr>
              <a:tr h="558799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По старой скидке лояльности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128,13</a:t>
                      </a:r>
                      <a:endParaRPr lang="ru-RU" sz="2000" b="1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1568008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7300685" y="2620611"/>
            <a:ext cx="4532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Средняя экономия клиента за 1 транзакцию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436283" y="1552575"/>
            <a:ext cx="5097741" cy="3041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H="1" flipV="1">
            <a:off x="7416799" y="3156073"/>
            <a:ext cx="2481035" cy="6218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416799" y="5610553"/>
            <a:ext cx="4483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На </a:t>
            </a:r>
            <a:r>
              <a:rPr lang="ru-RU" dirty="0">
                <a:solidFill>
                  <a:srgbClr val="7030A0"/>
                </a:solidFill>
              </a:rPr>
              <a:t>13% </a:t>
            </a:r>
            <a:r>
              <a:rPr lang="ru-RU" dirty="0"/>
              <a:t>меньше – стали экономить клиенты</a:t>
            </a:r>
          </a:p>
        </p:txBody>
      </p:sp>
      <p:pic>
        <p:nvPicPr>
          <p:cNvPr id="9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5" y="679457"/>
            <a:ext cx="713451" cy="7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29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086" y="272596"/>
            <a:ext cx="11774714" cy="5982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Далее </a:t>
            </a:r>
            <a:r>
              <a:rPr lang="ru-RU" sz="3600" dirty="0"/>
              <a:t>– необходимо создать автоматизированный </a:t>
            </a:r>
            <a:r>
              <a:rPr lang="ru-RU" sz="3600" dirty="0" err="1">
                <a:solidFill>
                  <a:srgbClr val="7030A0"/>
                </a:solidFill>
              </a:rPr>
              <a:t>дашборд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214086" y="1470025"/>
            <a:ext cx="7376885" cy="101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dirty="0"/>
              <a:t>Критерии построения графика и выбираемые данные на </a:t>
            </a:r>
            <a:r>
              <a:rPr lang="ru-RU" sz="3200" dirty="0" err="1"/>
              <a:t>дашборде</a:t>
            </a:r>
            <a:r>
              <a:rPr lang="ru-RU" sz="3200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6" y="2594201"/>
            <a:ext cx="5162550" cy="14954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43" y="2803072"/>
            <a:ext cx="5619750" cy="3429000"/>
          </a:xfrm>
          <a:prstGeom prst="rect">
            <a:avLst/>
          </a:prstGeom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4847772" y="4517572"/>
            <a:ext cx="1123459" cy="66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394" y="1191986"/>
            <a:ext cx="1625406" cy="113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86" y="5326727"/>
            <a:ext cx="3380014" cy="1108788"/>
          </a:xfrm>
          <a:prstGeom prst="rect">
            <a:avLst/>
          </a:prstGeom>
        </p:spPr>
      </p:pic>
      <p:sp>
        <p:nvSpPr>
          <p:cNvPr id="14" name="Объект 2"/>
          <p:cNvSpPr txBox="1">
            <a:spLocks/>
          </p:cNvSpPr>
          <p:nvPr/>
        </p:nvSpPr>
        <p:spPr>
          <a:xfrm>
            <a:off x="256268" y="4825431"/>
            <a:ext cx="4591504" cy="37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/>
              <a:t>Также отражаются важные показатели</a:t>
            </a:r>
          </a:p>
        </p:txBody>
      </p:sp>
    </p:spTree>
    <p:extLst>
      <p:ext uri="{BB962C8B-B14F-4D97-AF65-F5344CB8AC3E}">
        <p14:creationId xmlns:p14="http://schemas.microsoft.com/office/powerpoint/2010/main" val="2405611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858" y="374196"/>
            <a:ext cx="11684000" cy="110626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Также отражена динамика количества операций по дням в разрезе валютных систем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817" y="1655806"/>
            <a:ext cx="6601367" cy="4022228"/>
          </a:xfrm>
          <a:prstGeom prst="rect">
            <a:avLst/>
          </a:prstGeom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5863"/>
            <a:ext cx="3082600" cy="220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58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9857" y="490310"/>
            <a:ext cx="11136085" cy="104820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Расчет затрат на проведение транзакций в торговых точках </a:t>
            </a:r>
            <a:r>
              <a:rPr lang="ru-RU" dirty="0" err="1"/>
              <a:t>ретейлера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00099" y="13259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Выбран новый метод расчета финальной цифры затрат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Финальная сумма затрат пересчитана с учетом скидки провайдера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841" y="1814058"/>
            <a:ext cx="4610100" cy="25622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26" y="5311886"/>
            <a:ext cx="7052815" cy="1059885"/>
          </a:xfrm>
          <a:prstGeom prst="rect">
            <a:avLst/>
          </a:prstGeom>
        </p:spPr>
      </p:pic>
      <p:pic>
        <p:nvPicPr>
          <p:cNvPr id="7" name="Picture 12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448" y="1808004"/>
            <a:ext cx="713272" cy="7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158" y="5311886"/>
            <a:ext cx="713451" cy="7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33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914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Итоги исследования: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676400" y="1885022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Проанализирован рост длительности транзакций, устранены причины и сам рост</a:t>
            </a:r>
          </a:p>
          <a:p>
            <a:r>
              <a:rPr lang="ru-RU" dirty="0"/>
              <a:t>Рассмотрено влияние акции на изменение среднего чека</a:t>
            </a:r>
          </a:p>
          <a:p>
            <a:r>
              <a:rPr lang="ru-RU" dirty="0"/>
              <a:t>Рассчитана сумма экономии клиента </a:t>
            </a:r>
            <a:r>
              <a:rPr lang="ru-RU"/>
              <a:t>в рамках </a:t>
            </a:r>
            <a:r>
              <a:rPr lang="ru-RU" dirty="0"/>
              <a:t>программы лояльности и рассмотрен вариант уменьшения скидок</a:t>
            </a:r>
          </a:p>
          <a:p>
            <a:r>
              <a:rPr lang="ru-RU" dirty="0"/>
              <a:t>Создан автоматизированный </a:t>
            </a:r>
            <a:r>
              <a:rPr lang="ru-RU" dirty="0" err="1"/>
              <a:t>дашборд</a:t>
            </a:r>
            <a:endParaRPr lang="ru-RU" dirty="0"/>
          </a:p>
          <a:p>
            <a:r>
              <a:rPr lang="ru-RU" dirty="0"/>
              <a:t>Рассчитаны затраты для торговых точек </a:t>
            </a:r>
            <a:r>
              <a:rPr lang="ru-RU" dirty="0" err="1"/>
              <a:t>ретейлера</a:t>
            </a:r>
            <a:r>
              <a:rPr lang="ru-RU" dirty="0"/>
              <a:t>, а также посчитана экономия на скидках провайдера</a:t>
            </a:r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27" y="1831109"/>
            <a:ext cx="706140" cy="60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82" y="2621046"/>
            <a:ext cx="720818" cy="55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82" y="3262608"/>
            <a:ext cx="713451" cy="7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82" y="4060691"/>
            <a:ext cx="720818" cy="72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95" y="4781509"/>
            <a:ext cx="713272" cy="7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0993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623</Words>
  <Application>Microsoft Office PowerPoint</Application>
  <PresentationFormat>Широкоэкранный</PresentationFormat>
  <Paragraphs>117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InterSkyeng</vt:lpstr>
      <vt:lpstr>Open Sans</vt:lpstr>
      <vt:lpstr>Тема Office</vt:lpstr>
      <vt:lpstr> Анализ работы торгового ретейлера</vt:lpstr>
      <vt:lpstr>Цель исследования и исходные данные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Итоги исследования: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Анализ работы торгового ритейлера</dc:title>
  <dc:creator>Acer</dc:creator>
  <cp:lastModifiedBy>DA 98.2 IND</cp:lastModifiedBy>
  <cp:revision>35</cp:revision>
  <dcterms:created xsi:type="dcterms:W3CDTF">2024-10-16T11:37:42Z</dcterms:created>
  <dcterms:modified xsi:type="dcterms:W3CDTF">2024-11-01T19:44:00Z</dcterms:modified>
</cp:coreProperties>
</file>